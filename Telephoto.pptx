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37"/>
    <a:srgbClr val="DCDCCD"/>
    <a:srgbClr val="282819"/>
    <a:srgbClr val="F0FFBE"/>
    <a:srgbClr val="5A6928"/>
    <a:srgbClr val="788746"/>
    <a:srgbClr val="96A564"/>
    <a:srgbClr val="B4C382"/>
    <a:srgbClr val="D2E1A0"/>
    <a:srgbClr val="8C9B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701" autoAdjust="0"/>
  </p:normalViewPr>
  <p:slideViewPr>
    <p:cSldViewPr>
      <p:cViewPr varScale="1">
        <p:scale>
          <a:sx n="149" d="100"/>
          <a:sy n="149" d="100"/>
        </p:scale>
        <p:origin x="1902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B1853-9A4D-44E8-96C2-08E138DDD25A}" type="datetimeFigureOut">
              <a:rPr lang="hu-HU" smtClean="0"/>
              <a:t>2026. 05. 02.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4AFC1-9694-4154-A27B-9C215ED64C7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1620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5490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388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5F658-8D4C-7036-6CA5-ABD00C29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FDAA2C0-A019-B153-8A10-F34784698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B640D316-923E-269D-175E-0C8D1401D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2C9789DE-1782-1B56-48AB-46EF6A6FF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618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311CF-61A0-1E9E-4B44-E0E3B5BAA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9825DEE-FC6B-927C-048A-20D3F1586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8019777-4139-4A81-3548-8BD25A047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6069C13-A8BE-1016-2F7A-3CAD13739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5243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B3BC-7B1F-FF04-FDEA-2E29D84C6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6D66D27-ABF3-28EC-C8B4-6943B681F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38D12A3-2983-0E4A-DA43-CE1234991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81593AB-BC18-6219-9DB2-A6E3C4241D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98472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66F7-438A-CFC5-B89E-E8F31B730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42FEE2B6-C535-C97B-7D0B-3BBBE5911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8B4C0351-46BF-851B-2C19-643569E68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E3AA287-837E-CB70-BC15-6A34CCBD9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8093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715CB-432E-B9E7-8454-88E17472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51559BF2-BDD6-EF91-693F-EA187982F6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33850A06-3B4D-F576-DC2B-EBDBAB2A2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61BF68E-8D26-CCC7-96FC-07A517C06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6453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D4EA6-F35A-F7BB-057F-480DEB71A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076B7F30-0758-C600-77FE-E756E1A57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16A5CF7A-E420-AAB1-2F6E-0FE022C77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C940D33-3369-4D5E-C066-634CC3EDB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1760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18E2-8F45-9CEB-05BF-032EB70A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F42AB7CE-0660-252D-62B9-F96425A1F2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FCE25E43-F647-52E2-6338-23BFF799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dshgsjfhduskhfdsoifusodifouids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CB2924E-BBF9-F4AA-0BEC-EDA7D2829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C4AFC1-9694-4154-A27B-9C215ED64C79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169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7A78-F4E7-4FEE-8C9A-7E8E78A06521}" type="datetime1">
              <a:rPr lang="hu-HU" smtClean="0"/>
              <a:t>2026. 05. 02.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pPr/>
              <a:t>‹#›</a:t>
            </a:fld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421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40501-2D6D-4BD6-801D-AF93387CA07A}" type="datetime1">
              <a:rPr lang="hu-HU" smtClean="0"/>
              <a:t>2026. 05. 02.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8682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9F33D-3D7E-4493-AD12-D9FCEC1A76F4}" type="datetime1">
              <a:rPr lang="hu-HU" smtClean="0"/>
              <a:t>2026. 05. 02.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7800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93DC2-CC9A-49DD-BEDA-0596C7B8A9BC}" type="datetime1">
              <a:rPr lang="hu-HU" smtClean="0"/>
              <a:t>2026. 05. 02.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518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D6465-CAE8-4B17-BB9F-345DC8AFD504}" type="datetime1">
              <a:rPr lang="hu-HU" smtClean="0"/>
              <a:t>2026. 05. 02.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924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962CF-7827-4839-B158-CC690BC818CB}" type="datetime1">
              <a:rPr lang="hu-HU" smtClean="0"/>
              <a:t>2026. 05. 02.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89454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C181D-926E-4466-9E56-2D4AEE7CBB1C}" type="datetime1">
              <a:rPr lang="hu-HU" smtClean="0"/>
              <a:t>2026. 05. 02.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242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353-A734-4C98-AA88-EDA7940EF9FB}" type="datetime1">
              <a:rPr lang="hu-HU" smtClean="0"/>
              <a:t>2026. 05. 02.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7921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5A855-1D75-4EA4-A3F6-7BA528E0FA0A}" type="datetime1">
              <a:rPr lang="hu-HU" smtClean="0"/>
              <a:t>2026. 05. 02.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43982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17C89-2A68-40D5-984C-AA5A0C2B3A1D}" type="datetime1">
              <a:rPr lang="hu-HU" smtClean="0"/>
              <a:t>2026. 05. 02.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944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C8638-41D7-4BD8-BAC2-69C25D6F4DFB}" type="datetime1">
              <a:rPr lang="hu-HU" smtClean="0"/>
              <a:t>2026. 05. 02.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82FFC-C72B-49ED-AEB7-24084B4B619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806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DCDC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6D192-92F1-4322-AB84-3654CA032AC4}" type="datetime1">
              <a:rPr lang="hu-HU" smtClean="0"/>
              <a:t>2026. 05. 02.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82FFC-C72B-49ED-AEB7-24084B4B619A}" type="slidenum">
              <a:rPr lang="hu-HU" smtClean="0"/>
              <a:pPr/>
              <a:t>‹#›</a:t>
            </a:fld>
            <a:r>
              <a:rPr lang="hu-HU" dirty="0"/>
              <a:t> / XX</a:t>
            </a:r>
          </a:p>
        </p:txBody>
      </p:sp>
    </p:spTree>
    <p:extLst>
      <p:ext uri="{BB962C8B-B14F-4D97-AF65-F5344CB8AC3E}">
        <p14:creationId xmlns:p14="http://schemas.microsoft.com/office/powerpoint/2010/main" val="33059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64637"/>
          </a:solidFill>
          <a:latin typeface="Book Antiqua" panose="0204060205030503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64637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64637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64637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64637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64637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DCDC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képek">
            <a:extLst>
              <a:ext uri="{FF2B5EF4-FFF2-40B4-BE49-F238E27FC236}">
                <a16:creationId xmlns:a16="http://schemas.microsoft.com/office/drawing/2014/main" id="{FD96DC53-0170-F2C0-CDD2-170ACD178EED}"/>
              </a:ext>
            </a:extLst>
          </p:cNvPr>
          <p:cNvGrpSpPr/>
          <p:nvPr/>
        </p:nvGrpSpPr>
        <p:grpSpPr>
          <a:xfrm rot="18568318">
            <a:off x="5692069" y="1315941"/>
            <a:ext cx="5027024" cy="3697636"/>
            <a:chOff x="2386934" y="2974142"/>
            <a:chExt cx="5027024" cy="3697636"/>
          </a:xfrm>
        </p:grpSpPr>
        <p:grpSp>
          <p:nvGrpSpPr>
            <p:cNvPr id="11" name="Csoportba foglalás 10">
              <a:extLst>
                <a:ext uri="{FF2B5EF4-FFF2-40B4-BE49-F238E27FC236}">
                  <a16:creationId xmlns:a16="http://schemas.microsoft.com/office/drawing/2014/main" id="{F7ECA19F-22F7-3E21-D20E-CED09BECC0A1}"/>
                </a:ext>
              </a:extLst>
            </p:cNvPr>
            <p:cNvGrpSpPr/>
            <p:nvPr/>
          </p:nvGrpSpPr>
          <p:grpSpPr>
            <a:xfrm rot="18146480">
              <a:off x="2489639" y="4037909"/>
              <a:ext cx="2531164" cy="2736574"/>
              <a:chOff x="4764157" y="2670313"/>
              <a:chExt cx="2531164" cy="2736574"/>
            </a:xfrm>
          </p:grpSpPr>
          <p:sp>
            <p:nvSpPr>
              <p:cNvPr id="9" name="Téglalap: lekerekített 8">
                <a:extLst>
                  <a:ext uri="{FF2B5EF4-FFF2-40B4-BE49-F238E27FC236}">
                    <a16:creationId xmlns:a16="http://schemas.microsoft.com/office/drawing/2014/main" id="{DAE00BA3-3F36-0594-A7E4-F3C94E08E362}"/>
                  </a:ext>
                </a:extLst>
              </p:cNvPr>
              <p:cNvSpPr/>
              <p:nvPr/>
            </p:nvSpPr>
            <p:spPr>
              <a:xfrm>
                <a:off x="4764157" y="2670313"/>
                <a:ext cx="2531164" cy="2736574"/>
              </a:xfrm>
              <a:prstGeom prst="roundRect">
                <a:avLst>
                  <a:gd name="adj" fmla="val 1484"/>
                </a:avLst>
              </a:prstGeom>
              <a:solidFill>
                <a:schemeClr val="bg1"/>
              </a:solidFill>
              <a:ln w="3175">
                <a:solidFill>
                  <a:srgbClr val="DCDC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0" name="Téglalap: lekerekített 9">
                <a:extLst>
                  <a:ext uri="{FF2B5EF4-FFF2-40B4-BE49-F238E27FC236}">
                    <a16:creationId xmlns:a16="http://schemas.microsoft.com/office/drawing/2014/main" id="{4A49FA32-3D17-40FD-975F-1CE4F5D72C24}"/>
                  </a:ext>
                </a:extLst>
              </p:cNvPr>
              <p:cNvSpPr/>
              <p:nvPr/>
            </p:nvSpPr>
            <p:spPr>
              <a:xfrm>
                <a:off x="4999382" y="2883938"/>
                <a:ext cx="2060713" cy="1846054"/>
              </a:xfrm>
              <a:prstGeom prst="roundRect">
                <a:avLst>
                  <a:gd name="adj" fmla="val 1064"/>
                </a:avLst>
              </a:prstGeom>
              <a:solidFill>
                <a:schemeClr val="tx1"/>
              </a:solidFill>
              <a:ln w="3175">
                <a:solidFill>
                  <a:srgbClr val="DCDC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</p:grpSp>
        <p:grpSp>
          <p:nvGrpSpPr>
            <p:cNvPr id="12" name="Csoportba foglalás 11">
              <a:extLst>
                <a:ext uri="{FF2B5EF4-FFF2-40B4-BE49-F238E27FC236}">
                  <a16:creationId xmlns:a16="http://schemas.microsoft.com/office/drawing/2014/main" id="{EA146EC3-A2A5-819C-A4ED-0EF495A649C3}"/>
                </a:ext>
              </a:extLst>
            </p:cNvPr>
            <p:cNvGrpSpPr/>
            <p:nvPr/>
          </p:nvGrpSpPr>
          <p:grpSpPr>
            <a:xfrm rot="20292587">
              <a:off x="3625855" y="2974142"/>
              <a:ext cx="2531164" cy="2736574"/>
              <a:chOff x="4764157" y="2670313"/>
              <a:chExt cx="2531164" cy="2736574"/>
            </a:xfrm>
          </p:grpSpPr>
          <p:sp>
            <p:nvSpPr>
              <p:cNvPr id="13" name="Téglalap: lekerekített 12">
                <a:extLst>
                  <a:ext uri="{FF2B5EF4-FFF2-40B4-BE49-F238E27FC236}">
                    <a16:creationId xmlns:a16="http://schemas.microsoft.com/office/drawing/2014/main" id="{BBDC8129-C2D7-5322-9E0A-CE3A54145A2D}"/>
                  </a:ext>
                </a:extLst>
              </p:cNvPr>
              <p:cNvSpPr/>
              <p:nvPr/>
            </p:nvSpPr>
            <p:spPr>
              <a:xfrm>
                <a:off x="4764157" y="2670313"/>
                <a:ext cx="2531164" cy="2736574"/>
              </a:xfrm>
              <a:prstGeom prst="roundRect">
                <a:avLst>
                  <a:gd name="adj" fmla="val 1484"/>
                </a:avLst>
              </a:prstGeom>
              <a:solidFill>
                <a:schemeClr val="bg1"/>
              </a:solidFill>
              <a:ln w="3175">
                <a:solidFill>
                  <a:srgbClr val="DCDC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4" name="Téglalap: lekerekített 13">
                <a:extLst>
                  <a:ext uri="{FF2B5EF4-FFF2-40B4-BE49-F238E27FC236}">
                    <a16:creationId xmlns:a16="http://schemas.microsoft.com/office/drawing/2014/main" id="{C03D1CD0-5FFF-2171-D0ED-5282EAA02BA3}"/>
                  </a:ext>
                </a:extLst>
              </p:cNvPr>
              <p:cNvSpPr/>
              <p:nvPr/>
            </p:nvSpPr>
            <p:spPr>
              <a:xfrm>
                <a:off x="4999382" y="2883938"/>
                <a:ext cx="2060713" cy="1846054"/>
              </a:xfrm>
              <a:prstGeom prst="roundRect">
                <a:avLst>
                  <a:gd name="adj" fmla="val 1064"/>
                </a:avLst>
              </a:prstGeom>
              <a:solidFill>
                <a:schemeClr val="tx1"/>
              </a:solidFill>
              <a:ln w="3175">
                <a:solidFill>
                  <a:srgbClr val="DCDC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15" name="Csoportba foglalás 14">
              <a:extLst>
                <a:ext uri="{FF2B5EF4-FFF2-40B4-BE49-F238E27FC236}">
                  <a16:creationId xmlns:a16="http://schemas.microsoft.com/office/drawing/2014/main" id="{1F681311-83D0-A2F1-2B81-BF62AD6C19C1}"/>
                </a:ext>
              </a:extLst>
            </p:cNvPr>
            <p:cNvGrpSpPr/>
            <p:nvPr/>
          </p:nvGrpSpPr>
          <p:grpSpPr>
            <a:xfrm rot="1454099">
              <a:off x="4882794" y="2974142"/>
              <a:ext cx="2531164" cy="2736574"/>
              <a:chOff x="4764157" y="2670313"/>
              <a:chExt cx="2531164" cy="2736574"/>
            </a:xfrm>
          </p:grpSpPr>
          <p:sp>
            <p:nvSpPr>
              <p:cNvPr id="16" name="Téglalap: lekerekített 15">
                <a:extLst>
                  <a:ext uri="{FF2B5EF4-FFF2-40B4-BE49-F238E27FC236}">
                    <a16:creationId xmlns:a16="http://schemas.microsoft.com/office/drawing/2014/main" id="{25312E5F-8B05-0974-854D-B23BC323D943}"/>
                  </a:ext>
                </a:extLst>
              </p:cNvPr>
              <p:cNvSpPr/>
              <p:nvPr/>
            </p:nvSpPr>
            <p:spPr>
              <a:xfrm>
                <a:off x="4764157" y="2670313"/>
                <a:ext cx="2531164" cy="2736574"/>
              </a:xfrm>
              <a:prstGeom prst="roundRect">
                <a:avLst>
                  <a:gd name="adj" fmla="val 1484"/>
                </a:avLst>
              </a:prstGeom>
              <a:solidFill>
                <a:schemeClr val="bg1"/>
              </a:solidFill>
              <a:ln w="3175">
                <a:solidFill>
                  <a:srgbClr val="DCDC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DA1DCCC9-381B-9A94-A88B-311B20A52A74}"/>
                  </a:ext>
                </a:extLst>
              </p:cNvPr>
              <p:cNvSpPr/>
              <p:nvPr/>
            </p:nvSpPr>
            <p:spPr>
              <a:xfrm>
                <a:off x="4999382" y="2883938"/>
                <a:ext cx="2060713" cy="1846054"/>
              </a:xfrm>
              <a:prstGeom prst="roundRect">
                <a:avLst>
                  <a:gd name="adj" fmla="val 1064"/>
                </a:avLst>
              </a:prstGeom>
              <a:solidFill>
                <a:schemeClr val="tx1"/>
              </a:solidFill>
              <a:ln w="3175">
                <a:solidFill>
                  <a:srgbClr val="DCDC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3" name="készítették">
            <a:extLst>
              <a:ext uri="{FF2B5EF4-FFF2-40B4-BE49-F238E27FC236}">
                <a16:creationId xmlns:a16="http://schemas.microsoft.com/office/drawing/2014/main" id="{00429478-B869-1C81-02F9-2EF77968C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66" y="3356992"/>
            <a:ext cx="8046968" cy="365125"/>
          </a:xfrm>
        </p:spPr>
        <p:txBody>
          <a:bodyPr>
            <a:normAutofit/>
          </a:bodyPr>
          <a:lstStyle/>
          <a:p>
            <a:pPr algn="l"/>
            <a:r>
              <a:rPr lang="hu-HU" sz="1400" dirty="0">
                <a:latin typeface="Book Antiqua" panose="02040602050305030304" pitchFamily="18" charset="0"/>
              </a:rPr>
              <a:t>Készítették: Barnai Benjámin, Farkas Tamás, Hegedűs Kevin</a:t>
            </a:r>
          </a:p>
        </p:txBody>
      </p:sp>
      <p:sp>
        <p:nvSpPr>
          <p:cNvPr id="6" name="!!dia szám">
            <a:extLst>
              <a:ext uri="{FF2B5EF4-FFF2-40B4-BE49-F238E27FC236}">
                <a16:creationId xmlns:a16="http://schemas.microsoft.com/office/drawing/2014/main" id="{6A5A0774-6805-698C-5CA7-AAEAABC6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4448" y="6479157"/>
            <a:ext cx="539552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  <a:latin typeface="Book Antiqua" panose="02040602050305030304" pitchFamily="18" charset="0"/>
              </a:rPr>
              <a:pPr algn="ctr"/>
              <a:t>1</a:t>
            </a:fld>
            <a:r>
              <a:rPr lang="hu-HU" dirty="0">
                <a:solidFill>
                  <a:srgbClr val="464637"/>
                </a:solidFill>
                <a:latin typeface="Book Antiqua" panose="02040602050305030304" pitchFamily="18" charset="0"/>
              </a:rPr>
              <a:t> / 9 </a:t>
            </a:r>
          </a:p>
        </p:txBody>
      </p:sp>
      <p:sp>
        <p:nvSpPr>
          <p:cNvPr id="19" name="szlogen">
            <a:extLst>
              <a:ext uri="{FF2B5EF4-FFF2-40B4-BE49-F238E27FC236}">
                <a16:creationId xmlns:a16="http://schemas.microsoft.com/office/drawing/2014/main" id="{151F0583-75B5-0DB6-62E2-180128C8CCD7}"/>
              </a:ext>
            </a:extLst>
          </p:cNvPr>
          <p:cNvSpPr txBox="1"/>
          <p:nvPr/>
        </p:nvSpPr>
        <p:spPr>
          <a:xfrm>
            <a:off x="130258" y="2602134"/>
            <a:ext cx="701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solidFill>
                  <a:srgbClr val="464637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A mi fotós platformunk</a:t>
            </a:r>
          </a:p>
        </p:txBody>
      </p:sp>
      <p:cxnSp>
        <p:nvCxnSpPr>
          <p:cNvPr id="21" name="cím vonal">
            <a:extLst>
              <a:ext uri="{FF2B5EF4-FFF2-40B4-BE49-F238E27FC236}">
                <a16:creationId xmlns:a16="http://schemas.microsoft.com/office/drawing/2014/main" id="{4E9EAA8E-E84A-5F8D-2065-8A5D82702791}"/>
              </a:ext>
            </a:extLst>
          </p:cNvPr>
          <p:cNvCxnSpPr>
            <a:cxnSpLocks/>
          </p:cNvCxnSpPr>
          <p:nvPr/>
        </p:nvCxnSpPr>
        <p:spPr>
          <a:xfrm>
            <a:off x="66266" y="3212976"/>
            <a:ext cx="5618921" cy="0"/>
          </a:xfrm>
          <a:prstGeom prst="line">
            <a:avLst/>
          </a:prstGeom>
          <a:ln>
            <a:solidFill>
              <a:srgbClr val="4646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!!Cím">
            <a:extLst>
              <a:ext uri="{FF2B5EF4-FFF2-40B4-BE49-F238E27FC236}">
                <a16:creationId xmlns:a16="http://schemas.microsoft.com/office/drawing/2014/main" id="{EF33D63C-245D-6AEC-AE47-BEC35D9889B2}"/>
              </a:ext>
            </a:extLst>
          </p:cNvPr>
          <p:cNvSpPr/>
          <p:nvPr/>
        </p:nvSpPr>
        <p:spPr>
          <a:xfrm>
            <a:off x="0" y="1244857"/>
            <a:ext cx="5721699" cy="1320039"/>
          </a:xfrm>
          <a:prstGeom prst="rect">
            <a:avLst/>
          </a:prstGeom>
          <a:solidFill>
            <a:srgbClr val="46463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7200" spc="300" dirty="0">
                <a:solidFill>
                  <a:srgbClr val="DCDCCD"/>
                </a:solidFill>
                <a:latin typeface="Book Antiqua" panose="02040602050305030304" pitchFamily="18" charset="0"/>
              </a:rPr>
              <a:t>Telephoto</a:t>
            </a:r>
          </a:p>
        </p:txBody>
      </p:sp>
    </p:spTree>
    <p:extLst>
      <p:ext uri="{BB962C8B-B14F-4D97-AF65-F5344CB8AC3E}">
        <p14:creationId xmlns:p14="http://schemas.microsoft.com/office/powerpoint/2010/main" val="1264874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9" grpId="0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838CB6FD-254C-D4E5-8390-9600649E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456" y="6492875"/>
            <a:ext cx="467544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2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0DD0C37A-BC67-B07C-8B83-BA917E7D0ABB}"/>
              </a:ext>
            </a:extLst>
          </p:cNvPr>
          <p:cNvSpPr/>
          <p:nvPr/>
        </p:nvSpPr>
        <p:spPr>
          <a:xfrm>
            <a:off x="3059829" y="522504"/>
            <a:ext cx="5013347" cy="83058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 w="12700"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Motiváció</a:t>
            </a:r>
          </a:p>
        </p:txBody>
      </p:sp>
      <p:sp>
        <p:nvSpPr>
          <p:cNvPr id="15" name="!!TL2">
            <a:extLst>
              <a:ext uri="{FF2B5EF4-FFF2-40B4-BE49-F238E27FC236}">
                <a16:creationId xmlns:a16="http://schemas.microsoft.com/office/drawing/2014/main" id="{806B6B60-3E2B-45DB-8540-CC3A36318898}"/>
              </a:ext>
            </a:extLst>
          </p:cNvPr>
          <p:cNvSpPr/>
          <p:nvPr/>
        </p:nvSpPr>
        <p:spPr>
          <a:xfrm>
            <a:off x="3059830" y="1507048"/>
            <a:ext cx="5013347" cy="83058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 w="12700"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Alkalmazás funkciói </a:t>
            </a:r>
          </a:p>
        </p:txBody>
      </p:sp>
      <p:sp>
        <p:nvSpPr>
          <p:cNvPr id="17" name="!!TL3">
            <a:extLst>
              <a:ext uri="{FF2B5EF4-FFF2-40B4-BE49-F238E27FC236}">
                <a16:creationId xmlns:a16="http://schemas.microsoft.com/office/drawing/2014/main" id="{6F181056-FD1E-5734-D316-D9C356D1012C}"/>
              </a:ext>
            </a:extLst>
          </p:cNvPr>
          <p:cNvSpPr/>
          <p:nvPr/>
        </p:nvSpPr>
        <p:spPr>
          <a:xfrm>
            <a:off x="3059830" y="2491592"/>
            <a:ext cx="5013347" cy="83058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 w="12700"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Használt technológiák</a:t>
            </a:r>
          </a:p>
        </p:txBody>
      </p:sp>
      <p:sp>
        <p:nvSpPr>
          <p:cNvPr id="19" name="!!TL5">
            <a:extLst>
              <a:ext uri="{FF2B5EF4-FFF2-40B4-BE49-F238E27FC236}">
                <a16:creationId xmlns:a16="http://schemas.microsoft.com/office/drawing/2014/main" id="{A6CE3B62-C80C-F222-B4D4-35A268848B22}"/>
              </a:ext>
            </a:extLst>
          </p:cNvPr>
          <p:cNvSpPr/>
          <p:nvPr/>
        </p:nvSpPr>
        <p:spPr>
          <a:xfrm>
            <a:off x="3059831" y="4460680"/>
            <a:ext cx="5013347" cy="83058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 w="12700"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Teszteredmények</a:t>
            </a:r>
          </a:p>
        </p:txBody>
      </p:sp>
      <p:sp>
        <p:nvSpPr>
          <p:cNvPr id="21" name="!!TL6">
            <a:extLst>
              <a:ext uri="{FF2B5EF4-FFF2-40B4-BE49-F238E27FC236}">
                <a16:creationId xmlns:a16="http://schemas.microsoft.com/office/drawing/2014/main" id="{F65C9E0F-90DC-BF76-07E3-2B48505050F5}"/>
              </a:ext>
            </a:extLst>
          </p:cNvPr>
          <p:cNvSpPr/>
          <p:nvPr/>
        </p:nvSpPr>
        <p:spPr>
          <a:xfrm>
            <a:off x="3059832" y="5445224"/>
            <a:ext cx="5013347" cy="83058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 w="12700"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Csapatmunka</a:t>
            </a:r>
          </a:p>
        </p:txBody>
      </p:sp>
      <p:sp>
        <p:nvSpPr>
          <p:cNvPr id="28" name="!!TL4">
            <a:extLst>
              <a:ext uri="{FF2B5EF4-FFF2-40B4-BE49-F238E27FC236}">
                <a16:creationId xmlns:a16="http://schemas.microsoft.com/office/drawing/2014/main" id="{8AF4E92C-5BA9-679A-F8EE-8B65C093D997}"/>
              </a:ext>
            </a:extLst>
          </p:cNvPr>
          <p:cNvSpPr/>
          <p:nvPr/>
        </p:nvSpPr>
        <p:spPr>
          <a:xfrm>
            <a:off x="3059830" y="3476136"/>
            <a:ext cx="5013347" cy="83058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 w="12700"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Adatbázis</a:t>
            </a: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E0E36F9C-9B54-46B8-69A4-1C6471922108}"/>
              </a:ext>
            </a:extLst>
          </p:cNvPr>
          <p:cNvSpPr/>
          <p:nvPr/>
        </p:nvSpPr>
        <p:spPr>
          <a:xfrm>
            <a:off x="0" y="0"/>
            <a:ext cx="1993637" cy="6858000"/>
          </a:xfrm>
          <a:prstGeom prst="rect">
            <a:avLst/>
          </a:prstGeom>
          <a:solidFill>
            <a:srgbClr val="46463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hu-HU" sz="4400" b="1" cap="all" spc="-1200" dirty="0">
                <a:solidFill>
                  <a:srgbClr val="DCDCCD"/>
                </a:solidFill>
                <a:latin typeface="Book Antiqua" panose="02040602050305030304" pitchFamily="18" charset="0"/>
              </a:rPr>
              <a:t>Tartalom</a:t>
            </a:r>
          </a:p>
        </p:txBody>
      </p:sp>
    </p:spTree>
    <p:extLst>
      <p:ext uri="{BB962C8B-B14F-4D97-AF65-F5344CB8AC3E}">
        <p14:creationId xmlns:p14="http://schemas.microsoft.com/office/powerpoint/2010/main" val="212081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 animBg="1"/>
      <p:bldP spid="19" grpId="0" animBg="1"/>
      <p:bldP spid="21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A7FB-DCF6-8FA4-6E03-70366935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90D10AD2-FF5A-7A63-4282-BE2756070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456" y="6492875"/>
            <a:ext cx="467544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3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2C3FA63B-8EBF-A841-B014-216A5219252F}"/>
              </a:ext>
            </a:extLst>
          </p:cNvPr>
          <p:cNvSpPr/>
          <p:nvPr/>
        </p:nvSpPr>
        <p:spPr>
          <a:xfrm>
            <a:off x="2341741" y="188640"/>
            <a:ext cx="3132000" cy="288032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Érdekesnek gondoltuk a ötletet</a:t>
            </a:r>
          </a:p>
        </p:txBody>
      </p:sp>
      <p:sp>
        <p:nvSpPr>
          <p:cNvPr id="15" name="!!TL2">
            <a:extLst>
              <a:ext uri="{FF2B5EF4-FFF2-40B4-BE49-F238E27FC236}">
                <a16:creationId xmlns:a16="http://schemas.microsoft.com/office/drawing/2014/main" id="{ED730D18-E6C6-002B-76F5-255882E531C7}"/>
              </a:ext>
            </a:extLst>
          </p:cNvPr>
          <p:cNvSpPr/>
          <p:nvPr/>
        </p:nvSpPr>
        <p:spPr>
          <a:xfrm>
            <a:off x="5821845" y="908800"/>
            <a:ext cx="3131841" cy="144000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Új ismeretek elsajátítása</a:t>
            </a:r>
          </a:p>
        </p:txBody>
      </p:sp>
      <p:sp>
        <p:nvSpPr>
          <p:cNvPr id="3" name="!!TL4">
            <a:extLst>
              <a:ext uri="{FF2B5EF4-FFF2-40B4-BE49-F238E27FC236}">
                <a16:creationId xmlns:a16="http://schemas.microsoft.com/office/drawing/2014/main" id="{017087F2-C1B4-8667-1FC8-73DBBAF8B346}"/>
              </a:ext>
            </a:extLst>
          </p:cNvPr>
          <p:cNvSpPr/>
          <p:nvPr/>
        </p:nvSpPr>
        <p:spPr>
          <a:xfrm>
            <a:off x="5821845" y="3356992"/>
            <a:ext cx="3132000" cy="288032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Saját preferenciánkra szabhatjuk az alkalmazást</a:t>
            </a:r>
          </a:p>
        </p:txBody>
      </p:sp>
      <p:sp>
        <p:nvSpPr>
          <p:cNvPr id="5" name="!!TL3">
            <a:extLst>
              <a:ext uri="{FF2B5EF4-FFF2-40B4-BE49-F238E27FC236}">
                <a16:creationId xmlns:a16="http://schemas.microsoft.com/office/drawing/2014/main" id="{BBF6EB59-7BBE-7B3A-3B28-155FA4900C61}"/>
              </a:ext>
            </a:extLst>
          </p:cNvPr>
          <p:cNvSpPr/>
          <p:nvPr/>
        </p:nvSpPr>
        <p:spPr>
          <a:xfrm>
            <a:off x="2341741" y="4077152"/>
            <a:ext cx="3131841" cy="1440000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Releváns téma</a:t>
            </a: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7FC4D72F-0265-E3BF-B8AF-AE2158F9E46C}"/>
              </a:ext>
            </a:extLst>
          </p:cNvPr>
          <p:cNvSpPr/>
          <p:nvPr/>
        </p:nvSpPr>
        <p:spPr>
          <a:xfrm>
            <a:off x="0" y="0"/>
            <a:ext cx="1993637" cy="6858000"/>
          </a:xfrm>
          <a:prstGeom prst="rect">
            <a:avLst/>
          </a:prstGeom>
          <a:solidFill>
            <a:srgbClr val="46463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hu-HU" sz="4400" b="1" cap="all" spc="-1200" dirty="0">
                <a:solidFill>
                  <a:srgbClr val="DCDCCD"/>
                </a:solidFill>
                <a:latin typeface="Book Antiqua" panose="02040602050305030304" pitchFamily="18" charset="0"/>
              </a:rPr>
              <a:t>Motiváció</a:t>
            </a:r>
          </a:p>
        </p:txBody>
      </p:sp>
    </p:spTree>
    <p:extLst>
      <p:ext uri="{BB962C8B-B14F-4D97-AF65-F5344CB8AC3E}">
        <p14:creationId xmlns:p14="http://schemas.microsoft.com/office/powerpoint/2010/main" val="3628082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EE4A-7999-DB67-608D-B117170D3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D38905CC-8FF2-4ED3-FC7F-A56D9A47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456" y="6492874"/>
            <a:ext cx="539552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4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32" name="!!TL3">
            <a:extLst>
              <a:ext uri="{FF2B5EF4-FFF2-40B4-BE49-F238E27FC236}">
                <a16:creationId xmlns:a16="http://schemas.microsoft.com/office/drawing/2014/main" id="{0D82FAEC-42A3-DAA5-E4BF-1A789D3A35A0}"/>
              </a:ext>
            </a:extLst>
          </p:cNvPr>
          <p:cNvSpPr>
            <a:spLocks/>
          </p:cNvSpPr>
          <p:nvPr/>
        </p:nvSpPr>
        <p:spPr>
          <a:xfrm>
            <a:off x="379996" y="4155437"/>
            <a:ext cx="4035860" cy="2520000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Profil</a:t>
            </a:r>
          </a:p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E2970CB4-1DF8-CF79-309C-CCD253A9B8CE}"/>
              </a:ext>
            </a:extLst>
          </p:cNvPr>
          <p:cNvCxnSpPr>
            <a:cxnSpLocks/>
          </p:cNvCxnSpPr>
          <p:nvPr/>
        </p:nvCxnSpPr>
        <p:spPr>
          <a:xfrm>
            <a:off x="379996" y="4731501"/>
            <a:ext cx="4035600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F39BBFA9-73A9-E0BA-FC9A-971F84616E82}"/>
              </a:ext>
            </a:extLst>
          </p:cNvPr>
          <p:cNvSpPr txBox="1"/>
          <p:nvPr/>
        </p:nvSpPr>
        <p:spPr>
          <a:xfrm>
            <a:off x="379996" y="4797152"/>
            <a:ext cx="383196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Profil megtekintése / szerkesztése</a:t>
            </a:r>
          </a:p>
          <a:p>
            <a:pPr marL="4572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Profilhoz kapcsolódó posztok megtekintése</a:t>
            </a:r>
          </a:p>
          <a:p>
            <a:endParaRPr lang="hu-HU" dirty="0"/>
          </a:p>
        </p:txBody>
      </p:sp>
      <p:sp>
        <p:nvSpPr>
          <p:cNvPr id="23" name="!!TL2">
            <a:extLst>
              <a:ext uri="{FF2B5EF4-FFF2-40B4-BE49-F238E27FC236}">
                <a16:creationId xmlns:a16="http://schemas.microsoft.com/office/drawing/2014/main" id="{AAC27086-4E7F-90D0-51A0-4A0E73D0AFF2}"/>
              </a:ext>
            </a:extLst>
          </p:cNvPr>
          <p:cNvSpPr/>
          <p:nvPr/>
        </p:nvSpPr>
        <p:spPr>
          <a:xfrm>
            <a:off x="4728146" y="1570132"/>
            <a:ext cx="4035860" cy="2520000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Térkép</a:t>
            </a:r>
          </a:p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9305447F-DDD4-33BB-577D-64C4BE86F50E}"/>
              </a:ext>
            </a:extLst>
          </p:cNvPr>
          <p:cNvCxnSpPr/>
          <p:nvPr/>
        </p:nvCxnSpPr>
        <p:spPr>
          <a:xfrm>
            <a:off x="4728146" y="2146196"/>
            <a:ext cx="4035600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zövegdoboz 34">
            <a:extLst>
              <a:ext uri="{FF2B5EF4-FFF2-40B4-BE49-F238E27FC236}">
                <a16:creationId xmlns:a16="http://schemas.microsoft.com/office/drawing/2014/main" id="{1FC664FC-6BA6-4E06-16EA-AD6C1C25B7C0}"/>
              </a:ext>
            </a:extLst>
          </p:cNvPr>
          <p:cNvSpPr txBox="1"/>
          <p:nvPr/>
        </p:nvSpPr>
        <p:spPr>
          <a:xfrm>
            <a:off x="4727512" y="2276328"/>
            <a:ext cx="403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Posztok megjelenítése térképen</a:t>
            </a:r>
          </a:p>
          <a:p>
            <a:pPr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Posztok szűrése</a:t>
            </a:r>
          </a:p>
          <a:p>
            <a:endParaRPr lang="hu-HU" dirty="0"/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1D024620-746F-527D-7883-66420AE256C0}"/>
              </a:ext>
            </a:extLst>
          </p:cNvPr>
          <p:cNvSpPr/>
          <p:nvPr/>
        </p:nvSpPr>
        <p:spPr>
          <a:xfrm>
            <a:off x="379996" y="1556792"/>
            <a:ext cx="4035860" cy="2520000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Főoldal</a:t>
            </a:r>
          </a:p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9B3AAD0C-E2DA-BDA2-587A-66AA5D4036ED}"/>
              </a:ext>
            </a:extLst>
          </p:cNvPr>
          <p:cNvCxnSpPr/>
          <p:nvPr/>
        </p:nvCxnSpPr>
        <p:spPr>
          <a:xfrm>
            <a:off x="379996" y="2132856"/>
            <a:ext cx="4035600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813E6B12-D0A6-E3B4-790D-1711EC54C5C8}"/>
              </a:ext>
            </a:extLst>
          </p:cNvPr>
          <p:cNvSpPr txBox="1"/>
          <p:nvPr/>
        </p:nvSpPr>
        <p:spPr>
          <a:xfrm>
            <a:off x="379996" y="2276872"/>
            <a:ext cx="403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Posztok sorba rendezése</a:t>
            </a:r>
          </a:p>
          <a:p>
            <a:pPr marL="3429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Új poszt létrehozása</a:t>
            </a:r>
          </a:p>
          <a:p>
            <a:pPr marL="3429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Beszélgetések</a:t>
            </a:r>
          </a:p>
          <a:p>
            <a:endParaRPr lang="hu-HU" dirty="0"/>
          </a:p>
        </p:txBody>
      </p:sp>
      <p:sp>
        <p:nvSpPr>
          <p:cNvPr id="29" name="!!TL4">
            <a:extLst>
              <a:ext uri="{FF2B5EF4-FFF2-40B4-BE49-F238E27FC236}">
                <a16:creationId xmlns:a16="http://schemas.microsoft.com/office/drawing/2014/main" id="{C4E1AE55-5C40-629B-C7B6-90FC80E6FD1F}"/>
              </a:ext>
            </a:extLst>
          </p:cNvPr>
          <p:cNvSpPr/>
          <p:nvPr/>
        </p:nvSpPr>
        <p:spPr>
          <a:xfrm>
            <a:off x="4727512" y="4155437"/>
            <a:ext cx="4035860" cy="2520000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 err="1">
                <a:solidFill>
                  <a:srgbClr val="DCDCCD"/>
                </a:solidFill>
                <a:latin typeface="Book Antiqua" panose="02040602050305030304" pitchFamily="18" charset="0"/>
              </a:rPr>
              <a:t>Admin</a:t>
            </a:r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  <a:p>
            <a:pPr algn="ctr"/>
            <a:endParaRPr lang="hu-HU" sz="24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0" name="Egyenes összekötő 29">
            <a:extLst>
              <a:ext uri="{FF2B5EF4-FFF2-40B4-BE49-F238E27FC236}">
                <a16:creationId xmlns:a16="http://schemas.microsoft.com/office/drawing/2014/main" id="{1C3FBDFB-E499-3C31-7ECB-ED6CF46DAB84}"/>
              </a:ext>
            </a:extLst>
          </p:cNvPr>
          <p:cNvCxnSpPr/>
          <p:nvPr/>
        </p:nvCxnSpPr>
        <p:spPr>
          <a:xfrm>
            <a:off x="4727512" y="4731501"/>
            <a:ext cx="4035600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98432AD3-A0ED-A77F-8F31-6C6879EF55C7}"/>
              </a:ext>
            </a:extLst>
          </p:cNvPr>
          <p:cNvSpPr txBox="1"/>
          <p:nvPr/>
        </p:nvSpPr>
        <p:spPr>
          <a:xfrm>
            <a:off x="4727512" y="4819718"/>
            <a:ext cx="37242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Aktivitási grafikon</a:t>
            </a:r>
          </a:p>
          <a:p>
            <a:pPr marL="4572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Felhasználók / Posztok / Kommentek moderálása</a:t>
            </a: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881A2777-0C23-00B4-9089-4A82C9E53AA7}"/>
              </a:ext>
            </a:extLst>
          </p:cNvPr>
          <p:cNvSpPr/>
          <p:nvPr/>
        </p:nvSpPr>
        <p:spPr>
          <a:xfrm>
            <a:off x="0" y="0"/>
            <a:ext cx="9144000" cy="1440001"/>
          </a:xfrm>
          <a:prstGeom prst="rect">
            <a:avLst/>
          </a:prstGeom>
          <a:solidFill>
            <a:srgbClr val="F0F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numCol="1" rtlCol="0" anchor="ctr"/>
          <a:lstStyle/>
          <a:p>
            <a:pPr algn="ctr"/>
            <a:r>
              <a:rPr lang="hu-HU" sz="4400" b="1" cap="all" dirty="0">
                <a:solidFill>
                  <a:srgbClr val="464637"/>
                </a:solidFill>
                <a:latin typeface="Book Antiqua" panose="02040602050305030304" pitchFamily="18" charset="0"/>
              </a:rPr>
              <a:t>Alkalmazás funkciói</a:t>
            </a:r>
          </a:p>
        </p:txBody>
      </p:sp>
    </p:spTree>
    <p:extLst>
      <p:ext uri="{BB962C8B-B14F-4D97-AF65-F5344CB8AC3E}">
        <p14:creationId xmlns:p14="http://schemas.microsoft.com/office/powerpoint/2010/main" val="3443842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CAF5-D4C0-D021-066A-D8A8DD50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FBC8D6B9-D6F4-96A0-05B8-38D15F67B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9290" y="6492875"/>
            <a:ext cx="539552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5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37" name="Szövegdoboz 36">
            <a:extLst>
              <a:ext uri="{FF2B5EF4-FFF2-40B4-BE49-F238E27FC236}">
                <a16:creationId xmlns:a16="http://schemas.microsoft.com/office/drawing/2014/main" id="{070BD7D4-AAF0-7EA9-570B-C1985766F72B}"/>
              </a:ext>
            </a:extLst>
          </p:cNvPr>
          <p:cNvSpPr txBox="1"/>
          <p:nvPr/>
        </p:nvSpPr>
        <p:spPr>
          <a:xfrm>
            <a:off x="4727512" y="4819718"/>
            <a:ext cx="37242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Aktivitási grafikon</a:t>
            </a:r>
          </a:p>
          <a:p>
            <a:pPr marL="457200" indent="-180000" algn="ctr"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Felhasználók / Posztok / Kommentek moderálása</a:t>
            </a:r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8068A8CC-A7E7-7EE4-1697-1F385C1F8FD5}"/>
              </a:ext>
            </a:extLst>
          </p:cNvPr>
          <p:cNvSpPr/>
          <p:nvPr/>
        </p:nvSpPr>
        <p:spPr>
          <a:xfrm>
            <a:off x="451895" y="1588418"/>
            <a:ext cx="3816356" cy="5087019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A7AE2A2B-2098-687E-D270-CF77FEF565AE}"/>
              </a:ext>
            </a:extLst>
          </p:cNvPr>
          <p:cNvCxnSpPr/>
          <p:nvPr/>
        </p:nvCxnSpPr>
        <p:spPr>
          <a:xfrm>
            <a:off x="451895" y="2751294"/>
            <a:ext cx="3816110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0FCA2893-6918-38AD-B0EA-49372EFCEFF3}"/>
              </a:ext>
            </a:extLst>
          </p:cNvPr>
          <p:cNvSpPr txBox="1"/>
          <p:nvPr/>
        </p:nvSpPr>
        <p:spPr>
          <a:xfrm>
            <a:off x="451650" y="1834462"/>
            <a:ext cx="38163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Frontend</a:t>
            </a:r>
          </a:p>
        </p:txBody>
      </p:sp>
      <p:sp>
        <p:nvSpPr>
          <p:cNvPr id="12" name="!!TL2">
            <a:extLst>
              <a:ext uri="{FF2B5EF4-FFF2-40B4-BE49-F238E27FC236}">
                <a16:creationId xmlns:a16="http://schemas.microsoft.com/office/drawing/2014/main" id="{41125418-A5D0-4713-1F63-9F114681E8F7}"/>
              </a:ext>
            </a:extLst>
          </p:cNvPr>
          <p:cNvSpPr/>
          <p:nvPr/>
        </p:nvSpPr>
        <p:spPr>
          <a:xfrm>
            <a:off x="4876240" y="1588418"/>
            <a:ext cx="3815865" cy="5087019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492B8755-2893-8980-6D6C-6CD35EB81CE4}"/>
              </a:ext>
            </a:extLst>
          </p:cNvPr>
          <p:cNvCxnSpPr/>
          <p:nvPr/>
        </p:nvCxnSpPr>
        <p:spPr>
          <a:xfrm>
            <a:off x="4876240" y="2751294"/>
            <a:ext cx="3815619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A715AA72-75CD-2386-C800-8F4B7DF570E4}"/>
              </a:ext>
            </a:extLst>
          </p:cNvPr>
          <p:cNvSpPr txBox="1"/>
          <p:nvPr/>
        </p:nvSpPr>
        <p:spPr>
          <a:xfrm>
            <a:off x="4875749" y="1832283"/>
            <a:ext cx="38158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Backend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2C26A7A4-6017-4183-269A-E2E86840921A}"/>
              </a:ext>
            </a:extLst>
          </p:cNvPr>
          <p:cNvSpPr txBox="1"/>
          <p:nvPr/>
        </p:nvSpPr>
        <p:spPr>
          <a:xfrm>
            <a:off x="587685" y="2885728"/>
            <a:ext cx="3544286" cy="3292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HTML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CSS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JavaScript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Leaflet.js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Leaflet.markercluster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Socket.io - client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ExifReader</a:t>
            </a:r>
          </a:p>
        </p:txBody>
      </p: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753A7CD8-2C47-E482-AC20-EBA5B0F53BB1}"/>
              </a:ext>
            </a:extLst>
          </p:cNvPr>
          <p:cNvSpPr txBox="1"/>
          <p:nvPr/>
        </p:nvSpPr>
        <p:spPr>
          <a:xfrm>
            <a:off x="5011538" y="2885728"/>
            <a:ext cx="3544286" cy="236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Node.js + crypto + fs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Express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Multer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Socket.io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MySQL2</a:t>
            </a: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117C95DD-1D08-ECF7-0FEB-1CE31618AD32}"/>
              </a:ext>
            </a:extLst>
          </p:cNvPr>
          <p:cNvSpPr/>
          <p:nvPr/>
        </p:nvSpPr>
        <p:spPr>
          <a:xfrm>
            <a:off x="0" y="0"/>
            <a:ext cx="9144000" cy="1440001"/>
          </a:xfrm>
          <a:prstGeom prst="rect">
            <a:avLst/>
          </a:prstGeom>
          <a:solidFill>
            <a:srgbClr val="F0F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numCol="1" rtlCol="0" anchor="ctr"/>
          <a:lstStyle/>
          <a:p>
            <a:pPr algn="ctr"/>
            <a:r>
              <a:rPr lang="hu-HU" sz="4400" b="1" cap="all" dirty="0">
                <a:solidFill>
                  <a:srgbClr val="464637"/>
                </a:solidFill>
                <a:latin typeface="Book Antiqua" panose="02040602050305030304" pitchFamily="18" charset="0"/>
              </a:rPr>
              <a:t>Használt Technológiák</a:t>
            </a:r>
          </a:p>
        </p:txBody>
      </p:sp>
    </p:spTree>
    <p:extLst>
      <p:ext uri="{BB962C8B-B14F-4D97-AF65-F5344CB8AC3E}">
        <p14:creationId xmlns:p14="http://schemas.microsoft.com/office/powerpoint/2010/main" val="3899611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CF9F-738B-11C3-0137-ED2E57F79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C5E45715-C56C-4B2D-0A0A-8098E366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456" y="6492875"/>
            <a:ext cx="467544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6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236CE25E-62BF-D01F-96F8-A240957F90EA}"/>
              </a:ext>
            </a:extLst>
          </p:cNvPr>
          <p:cNvSpPr/>
          <p:nvPr/>
        </p:nvSpPr>
        <p:spPr>
          <a:xfrm>
            <a:off x="242429" y="2597126"/>
            <a:ext cx="2464007" cy="2926779"/>
          </a:xfrm>
          <a:prstGeom prst="roundRect">
            <a:avLst>
              <a:gd name="adj" fmla="val 2074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MySQL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UTF-8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9 db Tábla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2 db Trigger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sp>
        <p:nvSpPr>
          <p:cNvPr id="2" name="!!TL2">
            <a:extLst>
              <a:ext uri="{FF2B5EF4-FFF2-40B4-BE49-F238E27FC236}">
                <a16:creationId xmlns:a16="http://schemas.microsoft.com/office/drawing/2014/main" id="{D3B9368E-D468-3E41-63E8-C94DDB8A158A}"/>
              </a:ext>
            </a:extLst>
          </p:cNvPr>
          <p:cNvSpPr/>
          <p:nvPr/>
        </p:nvSpPr>
        <p:spPr>
          <a:xfrm>
            <a:off x="3033272" y="1844823"/>
            <a:ext cx="5730100" cy="4441747"/>
          </a:xfrm>
          <a:prstGeom prst="roundRect">
            <a:avLst>
              <a:gd name="adj" fmla="val 1010"/>
            </a:avLst>
          </a:prstGeom>
          <a:solidFill>
            <a:srgbClr val="464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ab kép">
            <a:extLst>
              <a:ext uri="{FF2B5EF4-FFF2-40B4-BE49-F238E27FC236}">
                <a16:creationId xmlns:a16="http://schemas.microsoft.com/office/drawing/2014/main" id="{E198CFE4-64A0-50EC-261A-78A525DE3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272" y="1834462"/>
            <a:ext cx="5756740" cy="4452109"/>
          </a:xfrm>
          <a:prstGeom prst="roundRect">
            <a:avLst>
              <a:gd name="adj" fmla="val 1078"/>
            </a:avLst>
          </a:prstGeom>
          <a:effectLst>
            <a:softEdge rad="0"/>
          </a:effectLst>
        </p:spPr>
      </p:pic>
      <p:sp>
        <p:nvSpPr>
          <p:cNvPr id="11" name="!!Cím">
            <a:extLst>
              <a:ext uri="{FF2B5EF4-FFF2-40B4-BE49-F238E27FC236}">
                <a16:creationId xmlns:a16="http://schemas.microsoft.com/office/drawing/2014/main" id="{E4DA6640-BEBB-587B-C15A-4B6466E4E6EF}"/>
              </a:ext>
            </a:extLst>
          </p:cNvPr>
          <p:cNvSpPr/>
          <p:nvPr/>
        </p:nvSpPr>
        <p:spPr>
          <a:xfrm>
            <a:off x="0" y="0"/>
            <a:ext cx="9144000" cy="1440001"/>
          </a:xfrm>
          <a:prstGeom prst="rect">
            <a:avLst/>
          </a:prstGeom>
          <a:solidFill>
            <a:srgbClr val="F0F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numCol="1" rtlCol="0" anchor="ctr"/>
          <a:lstStyle/>
          <a:p>
            <a:pPr algn="ctr"/>
            <a:r>
              <a:rPr lang="hu-HU" sz="4400" b="1" cap="all" dirty="0">
                <a:solidFill>
                  <a:srgbClr val="464637"/>
                </a:solidFill>
                <a:latin typeface="Book Antiqua" panose="02040602050305030304" pitchFamily="18" charset="0"/>
              </a:rPr>
              <a:t>Adatbázis</a:t>
            </a:r>
          </a:p>
        </p:txBody>
      </p:sp>
    </p:spTree>
    <p:extLst>
      <p:ext uri="{BB962C8B-B14F-4D97-AF65-F5344CB8AC3E}">
        <p14:creationId xmlns:p14="http://schemas.microsoft.com/office/powerpoint/2010/main" val="2447270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9DB18-15B2-AB2F-9733-A24EC3F2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42DBC283-2BEC-6E7F-9E87-50B39E26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6456" y="6492875"/>
            <a:ext cx="467544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7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C9C64F72-FCFF-956D-840F-E767007B3731}"/>
              </a:ext>
            </a:extLst>
          </p:cNvPr>
          <p:cNvSpPr/>
          <p:nvPr/>
        </p:nvSpPr>
        <p:spPr>
          <a:xfrm>
            <a:off x="491301" y="2802202"/>
            <a:ext cx="2824024" cy="3690674"/>
          </a:xfrm>
          <a:prstGeom prst="roundRect">
            <a:avLst>
              <a:gd name="adj" fmla="val 5722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281FEB1E-D07B-0C4D-2773-0A9BB5BCB64C}"/>
              </a:ext>
            </a:extLst>
          </p:cNvPr>
          <p:cNvCxnSpPr/>
          <p:nvPr/>
        </p:nvCxnSpPr>
        <p:spPr>
          <a:xfrm>
            <a:off x="491301" y="3868354"/>
            <a:ext cx="2823842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4840E601-9B8A-5C20-6135-07FF0D0868D4}"/>
              </a:ext>
            </a:extLst>
          </p:cNvPr>
          <p:cNvSpPr txBox="1"/>
          <p:nvPr/>
        </p:nvSpPr>
        <p:spPr>
          <a:xfrm>
            <a:off x="491119" y="2870877"/>
            <a:ext cx="2824024" cy="1020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rgbClr val="DCDCCD"/>
                </a:solidFill>
                <a:latin typeface="Book Antiqua" panose="02040602050305030304" pitchFamily="18" charset="0"/>
              </a:rPr>
              <a:t>Technikai környezet</a:t>
            </a:r>
          </a:p>
        </p:txBody>
      </p:sp>
      <p:sp>
        <p:nvSpPr>
          <p:cNvPr id="39" name="Szövegdoboz 38">
            <a:extLst>
              <a:ext uri="{FF2B5EF4-FFF2-40B4-BE49-F238E27FC236}">
                <a16:creationId xmlns:a16="http://schemas.microsoft.com/office/drawing/2014/main" id="{E9304976-B960-A0E5-F03B-60C83AFE7890}"/>
              </a:ext>
            </a:extLst>
          </p:cNvPr>
          <p:cNvSpPr txBox="1"/>
          <p:nvPr/>
        </p:nvSpPr>
        <p:spPr>
          <a:xfrm>
            <a:off x="547963" y="3962049"/>
            <a:ext cx="2823842" cy="2530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Jest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Babel-</a:t>
            </a:r>
            <a:r>
              <a:rPr lang="hu-HU" sz="2400" dirty="0" err="1">
                <a:solidFill>
                  <a:srgbClr val="DCDCCD"/>
                </a:solidFill>
                <a:latin typeface="Book Antiqua" panose="02040602050305030304" pitchFamily="18" charset="0"/>
              </a:rPr>
              <a:t>jest</a:t>
            </a:r>
            <a:endParaRPr lang="hu-HU" sz="2400" dirty="0">
              <a:solidFill>
                <a:srgbClr val="DCDCCD"/>
              </a:solidFill>
              <a:latin typeface="Book Antiqua" panose="02040602050305030304" pitchFamily="18" charset="0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Jest-enviroment-jsdom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Node.js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!!TL2">
            <a:extLst>
              <a:ext uri="{FF2B5EF4-FFF2-40B4-BE49-F238E27FC236}">
                <a16:creationId xmlns:a16="http://schemas.microsoft.com/office/drawing/2014/main" id="{B9E239BE-A12B-681D-C20A-68C5FBE74DFA}"/>
              </a:ext>
            </a:extLst>
          </p:cNvPr>
          <p:cNvSpPr/>
          <p:nvPr/>
        </p:nvSpPr>
        <p:spPr>
          <a:xfrm>
            <a:off x="3520711" y="2802201"/>
            <a:ext cx="5131988" cy="3650140"/>
          </a:xfrm>
          <a:prstGeom prst="roundRect">
            <a:avLst>
              <a:gd name="adj" fmla="val 5809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  <a:p>
            <a:pPr algn="ctr"/>
            <a:endParaRPr lang="hu-HU" sz="30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14" name="Egyenes összekötő 13">
            <a:extLst>
              <a:ext uri="{FF2B5EF4-FFF2-40B4-BE49-F238E27FC236}">
                <a16:creationId xmlns:a16="http://schemas.microsoft.com/office/drawing/2014/main" id="{8840E1F3-F120-752A-031D-5281E69C9F29}"/>
              </a:ext>
            </a:extLst>
          </p:cNvPr>
          <p:cNvCxnSpPr/>
          <p:nvPr/>
        </p:nvCxnSpPr>
        <p:spPr>
          <a:xfrm>
            <a:off x="3520714" y="3636611"/>
            <a:ext cx="5131657" cy="0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604BA979-91D5-7BCF-B0B0-AF6C4A1AFA5E}"/>
              </a:ext>
            </a:extLst>
          </p:cNvPr>
          <p:cNvSpPr txBox="1"/>
          <p:nvPr/>
        </p:nvSpPr>
        <p:spPr>
          <a:xfrm>
            <a:off x="3520051" y="2977184"/>
            <a:ext cx="5131988" cy="397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Lefedettség</a:t>
            </a:r>
          </a:p>
        </p:txBody>
      </p:sp>
      <p:sp>
        <p:nvSpPr>
          <p:cNvPr id="40" name="Szövegdoboz 39">
            <a:extLst>
              <a:ext uri="{FF2B5EF4-FFF2-40B4-BE49-F238E27FC236}">
                <a16:creationId xmlns:a16="http://schemas.microsoft.com/office/drawing/2014/main" id="{84A7D0D2-52E3-40F8-03FD-1D3FE60DCBAC}"/>
              </a:ext>
            </a:extLst>
          </p:cNvPr>
          <p:cNvSpPr txBox="1"/>
          <p:nvPr/>
        </p:nvSpPr>
        <p:spPr>
          <a:xfrm>
            <a:off x="3647259" y="3819792"/>
            <a:ext cx="4877572" cy="3294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9 Fájl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27 Függvény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71 Teszteset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hu-HU" sz="2400" dirty="0">
                <a:solidFill>
                  <a:srgbClr val="DCDCCD"/>
                </a:solidFill>
                <a:latin typeface="Book Antiqua" panose="02040602050305030304" pitchFamily="18" charset="0"/>
              </a:rPr>
              <a:t>71 Sikeres teszteset</a:t>
            </a: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DCDCCD"/>
              </a:solidFill>
              <a:latin typeface="Book Antiqua" panose="02040602050305030304" pitchFamily="18" charset="0"/>
            </a:endParaRPr>
          </a:p>
          <a:p>
            <a:pPr marL="342900" indent="-342900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hu-HU" sz="2400" dirty="0">
              <a:solidFill>
                <a:srgbClr val="DCDCCD"/>
              </a:solidFill>
              <a:latin typeface="Book Antiqua" panose="02040602050305030304" pitchFamily="18" charset="0"/>
            </a:endParaRPr>
          </a:p>
        </p:txBody>
      </p:sp>
      <p:sp>
        <p:nvSpPr>
          <p:cNvPr id="15" name="!!TL3">
            <a:extLst>
              <a:ext uri="{FF2B5EF4-FFF2-40B4-BE49-F238E27FC236}">
                <a16:creationId xmlns:a16="http://schemas.microsoft.com/office/drawing/2014/main" id="{4A465A74-15D9-FD56-875F-E12BFDEC0583}"/>
              </a:ext>
            </a:extLst>
          </p:cNvPr>
          <p:cNvSpPr/>
          <p:nvPr/>
        </p:nvSpPr>
        <p:spPr>
          <a:xfrm>
            <a:off x="491119" y="1605290"/>
            <a:ext cx="8160920" cy="1031622"/>
          </a:xfrm>
          <a:prstGeom prst="roundRect">
            <a:avLst>
              <a:gd name="adj" fmla="val 13603"/>
            </a:avLst>
          </a:prstGeom>
          <a:solidFill>
            <a:srgbClr val="464637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Megvalósítás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A841A3-3D76-9477-AFB6-340871CAF8A9}"/>
              </a:ext>
            </a:extLst>
          </p:cNvPr>
          <p:cNvCxnSpPr>
            <a:cxnSpLocks/>
          </p:cNvCxnSpPr>
          <p:nvPr/>
        </p:nvCxnSpPr>
        <p:spPr>
          <a:xfrm>
            <a:off x="2987824" y="1605289"/>
            <a:ext cx="0" cy="1031623"/>
          </a:xfrm>
          <a:prstGeom prst="line">
            <a:avLst/>
          </a:prstGeom>
          <a:ln w="12700">
            <a:solidFill>
              <a:srgbClr val="DCDCC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B8ADF94-DBFE-6A28-932C-59A43551118B}"/>
              </a:ext>
            </a:extLst>
          </p:cNvPr>
          <p:cNvSpPr txBox="1"/>
          <p:nvPr/>
        </p:nvSpPr>
        <p:spPr>
          <a:xfrm>
            <a:off x="3203848" y="1844102"/>
            <a:ext cx="235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000" dirty="0">
                <a:solidFill>
                  <a:srgbClr val="DCDCCD"/>
                </a:solidFill>
                <a:latin typeface="Book Antiqua" panose="02040602050305030304" pitchFamily="18" charset="0"/>
              </a:rPr>
              <a:t>Egységteszt</a:t>
            </a: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AE51E99D-4673-3692-062F-6B3C2716F7F0}"/>
              </a:ext>
            </a:extLst>
          </p:cNvPr>
          <p:cNvSpPr/>
          <p:nvPr/>
        </p:nvSpPr>
        <p:spPr>
          <a:xfrm>
            <a:off x="0" y="0"/>
            <a:ext cx="9144000" cy="1440001"/>
          </a:xfrm>
          <a:prstGeom prst="rect">
            <a:avLst/>
          </a:prstGeom>
          <a:solidFill>
            <a:srgbClr val="F0FF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numCol="1" rtlCol="0" anchor="ctr"/>
          <a:lstStyle/>
          <a:p>
            <a:pPr algn="ctr"/>
            <a:r>
              <a:rPr lang="hu-HU" sz="4400" b="1" cap="all" dirty="0">
                <a:solidFill>
                  <a:srgbClr val="464637"/>
                </a:solidFill>
                <a:latin typeface="Book Antiqua" panose="02040602050305030304" pitchFamily="18" charset="0"/>
              </a:rPr>
              <a:t>Teszt eredmények</a:t>
            </a:r>
          </a:p>
        </p:txBody>
      </p:sp>
    </p:spTree>
    <p:extLst>
      <p:ext uri="{BB962C8B-B14F-4D97-AF65-F5344CB8AC3E}">
        <p14:creationId xmlns:p14="http://schemas.microsoft.com/office/powerpoint/2010/main" val="3788842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2C35-A42C-BF59-58EE-BF3B7379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62BB1312-E31A-A992-5281-6324E9BE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2137" y="6492875"/>
            <a:ext cx="541863" cy="365125"/>
          </a:xfrm>
        </p:spPr>
        <p:txBody>
          <a:bodyPr/>
          <a:lstStyle/>
          <a:p>
            <a:pPr algn="ctr"/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8</a:t>
            </a:fld>
            <a:r>
              <a:rPr lang="hu-HU" dirty="0">
                <a:solidFill>
                  <a:srgbClr val="464637"/>
                </a:solidFill>
              </a:rPr>
              <a:t> / 9</a:t>
            </a:r>
          </a:p>
        </p:txBody>
      </p:sp>
      <p:sp>
        <p:nvSpPr>
          <p:cNvPr id="13" name="!!TL1">
            <a:extLst>
              <a:ext uri="{FF2B5EF4-FFF2-40B4-BE49-F238E27FC236}">
                <a16:creationId xmlns:a16="http://schemas.microsoft.com/office/drawing/2014/main" id="{162684E2-1B1D-3DC1-674E-C78D2D531371}"/>
              </a:ext>
            </a:extLst>
          </p:cNvPr>
          <p:cNvSpPr/>
          <p:nvPr/>
        </p:nvSpPr>
        <p:spPr>
          <a:xfrm>
            <a:off x="2321960" y="4761169"/>
            <a:ext cx="3132000" cy="1728192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Verziókezelés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0F8D1D-3873-1BDE-7A31-0D93860E155A}"/>
              </a:ext>
            </a:extLst>
          </p:cNvPr>
          <p:cNvCxnSpPr>
            <a:cxnSpLocks/>
          </p:cNvCxnSpPr>
          <p:nvPr/>
        </p:nvCxnSpPr>
        <p:spPr>
          <a:xfrm>
            <a:off x="2321960" y="5578010"/>
            <a:ext cx="3132000" cy="0"/>
          </a:xfrm>
          <a:prstGeom prst="line">
            <a:avLst/>
          </a:prstGeom>
          <a:ln w="12700">
            <a:solidFill>
              <a:srgbClr val="4646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F1E27B-EE9C-2FC6-B14E-D37245F23DF1}"/>
              </a:ext>
            </a:extLst>
          </p:cNvPr>
          <p:cNvSpPr txBox="1"/>
          <p:nvPr/>
        </p:nvSpPr>
        <p:spPr>
          <a:xfrm>
            <a:off x="2463987" y="5711337"/>
            <a:ext cx="2808312" cy="476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  <a:t>GitHub</a:t>
            </a:r>
          </a:p>
        </p:txBody>
      </p:sp>
      <p:sp>
        <p:nvSpPr>
          <p:cNvPr id="10" name="!!TL2">
            <a:extLst>
              <a:ext uri="{FF2B5EF4-FFF2-40B4-BE49-F238E27FC236}">
                <a16:creationId xmlns:a16="http://schemas.microsoft.com/office/drawing/2014/main" id="{59D3909A-DF7B-BAC4-E66D-C46BB914F9D3}"/>
              </a:ext>
            </a:extLst>
          </p:cNvPr>
          <p:cNvSpPr/>
          <p:nvPr/>
        </p:nvSpPr>
        <p:spPr>
          <a:xfrm>
            <a:off x="5651798" y="4761169"/>
            <a:ext cx="3132000" cy="1728192"/>
          </a:xfrm>
          <a:prstGeom prst="roundRect">
            <a:avLst>
              <a:gd name="adj" fmla="val 11146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Kommunikáció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8C7D17-9035-47CB-A126-19ED62F369DA}"/>
              </a:ext>
            </a:extLst>
          </p:cNvPr>
          <p:cNvCxnSpPr/>
          <p:nvPr/>
        </p:nvCxnSpPr>
        <p:spPr>
          <a:xfrm>
            <a:off x="5651798" y="5578010"/>
            <a:ext cx="3132000" cy="0"/>
          </a:xfrm>
          <a:prstGeom prst="line">
            <a:avLst/>
          </a:prstGeom>
          <a:ln w="12700">
            <a:solidFill>
              <a:srgbClr val="4646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85C3F77-5A80-8E7C-2CE9-77BFCE72380B}"/>
              </a:ext>
            </a:extLst>
          </p:cNvPr>
          <p:cNvSpPr txBox="1"/>
          <p:nvPr/>
        </p:nvSpPr>
        <p:spPr>
          <a:xfrm>
            <a:off x="5793825" y="5711337"/>
            <a:ext cx="2808312" cy="476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  <a:t>Discord</a:t>
            </a:r>
          </a:p>
        </p:txBody>
      </p:sp>
      <p:sp>
        <p:nvSpPr>
          <p:cNvPr id="5" name="!!TL3">
            <a:extLst>
              <a:ext uri="{FF2B5EF4-FFF2-40B4-BE49-F238E27FC236}">
                <a16:creationId xmlns:a16="http://schemas.microsoft.com/office/drawing/2014/main" id="{9564266A-D7A8-A660-6712-08996CBBA62E}"/>
              </a:ext>
            </a:extLst>
          </p:cNvPr>
          <p:cNvSpPr/>
          <p:nvPr/>
        </p:nvSpPr>
        <p:spPr>
          <a:xfrm>
            <a:off x="2321961" y="476535"/>
            <a:ext cx="6461838" cy="4068473"/>
          </a:xfrm>
          <a:prstGeom prst="roundRect">
            <a:avLst>
              <a:gd name="adj" fmla="val 6714"/>
            </a:avLst>
          </a:prstGeom>
          <a:solidFill>
            <a:srgbClr val="F0FFBE"/>
          </a:solidFill>
          <a:ln>
            <a:solidFill>
              <a:srgbClr val="4646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hu-HU" sz="3000" dirty="0">
                <a:solidFill>
                  <a:srgbClr val="464637"/>
                </a:solidFill>
                <a:latin typeface="Book Antiqua" panose="02040602050305030304" pitchFamily="18" charset="0"/>
              </a:rPr>
              <a:t>Munkamegosztás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463131-B5D9-A426-E499-808535BD6F33}"/>
              </a:ext>
            </a:extLst>
          </p:cNvPr>
          <p:cNvCxnSpPr/>
          <p:nvPr/>
        </p:nvCxnSpPr>
        <p:spPr>
          <a:xfrm>
            <a:off x="2321960" y="1207002"/>
            <a:ext cx="6462000" cy="0"/>
          </a:xfrm>
          <a:prstGeom prst="line">
            <a:avLst/>
          </a:prstGeom>
          <a:ln w="12700">
            <a:solidFill>
              <a:srgbClr val="4646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46AE0D6-2FC3-4AE5-AD79-8F8C4BBCC2DC}"/>
              </a:ext>
            </a:extLst>
          </p:cNvPr>
          <p:cNvSpPr txBox="1"/>
          <p:nvPr/>
        </p:nvSpPr>
        <p:spPr>
          <a:xfrm>
            <a:off x="2463987" y="1423026"/>
            <a:ext cx="613815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  <a:t>Barnai Benjámin: Adatbázis és egyéb háttérfolyamatok</a:t>
            </a:r>
          </a:p>
          <a:p>
            <a:b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</a:br>
            <a: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  <a:t>Farkas Tamás: Dizájn és alapvető funkciók</a:t>
            </a:r>
          </a:p>
          <a:p>
            <a:b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</a:br>
            <a:r>
              <a:rPr lang="hu-HU" sz="2400" dirty="0">
                <a:solidFill>
                  <a:srgbClr val="464637"/>
                </a:solidFill>
                <a:latin typeface="Book Antiqua" panose="02040602050305030304" pitchFamily="18" charset="0"/>
              </a:rPr>
              <a:t>Hegedűs Kevin: Komplex működés és oldalfelépítés</a:t>
            </a:r>
          </a:p>
          <a:p>
            <a:endParaRPr lang="hu-HU" sz="2400" dirty="0">
              <a:solidFill>
                <a:srgbClr val="464637"/>
              </a:solidFill>
              <a:latin typeface="Book Antiqua" panose="02040602050305030304" pitchFamily="18" charset="0"/>
            </a:endParaRPr>
          </a:p>
          <a:p>
            <a:endParaRPr lang="hu-HU" sz="2400" dirty="0">
              <a:solidFill>
                <a:srgbClr val="464637"/>
              </a:solidFill>
              <a:latin typeface="Book Antiqua" panose="02040602050305030304" pitchFamily="18" charset="0"/>
            </a:endParaRPr>
          </a:p>
          <a:p>
            <a:endParaRPr lang="hu-HU" sz="2400" dirty="0">
              <a:solidFill>
                <a:srgbClr val="464637"/>
              </a:solidFill>
              <a:latin typeface="Book Antiqua" panose="02040602050305030304" pitchFamily="18" charset="0"/>
            </a:endParaRPr>
          </a:p>
          <a:p>
            <a:endParaRPr lang="hu-HU" sz="2400" dirty="0">
              <a:solidFill>
                <a:srgbClr val="464637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171D1232-6C4F-B998-0279-91648B7549B7}"/>
              </a:ext>
            </a:extLst>
          </p:cNvPr>
          <p:cNvSpPr/>
          <p:nvPr/>
        </p:nvSpPr>
        <p:spPr>
          <a:xfrm>
            <a:off x="0" y="0"/>
            <a:ext cx="1993637" cy="6858000"/>
          </a:xfrm>
          <a:prstGeom prst="rect">
            <a:avLst/>
          </a:prstGeom>
          <a:solidFill>
            <a:srgbClr val="46463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hu-HU" sz="4000" b="1" cap="all" spc="-1300" dirty="0">
                <a:solidFill>
                  <a:srgbClr val="DCDCCD"/>
                </a:solidFill>
                <a:latin typeface="Book Antiqua" panose="02040602050305030304" pitchFamily="18" charset="0"/>
              </a:rPr>
              <a:t>Csapatmunka</a:t>
            </a:r>
          </a:p>
        </p:txBody>
      </p:sp>
    </p:spTree>
    <p:extLst>
      <p:ext uri="{BB962C8B-B14F-4D97-AF65-F5344CB8AC3E}">
        <p14:creationId xmlns:p14="http://schemas.microsoft.com/office/powerpoint/2010/main" val="769554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6D8E4-7A3E-D958-1EA3-891C3929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dia szám">
            <a:extLst>
              <a:ext uri="{FF2B5EF4-FFF2-40B4-BE49-F238E27FC236}">
                <a16:creationId xmlns:a16="http://schemas.microsoft.com/office/drawing/2014/main" id="{7FE80E94-D846-8998-D692-B6A4E819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9944" y="6492875"/>
            <a:ext cx="504056" cy="365125"/>
          </a:xfrm>
        </p:spPr>
        <p:txBody>
          <a:bodyPr/>
          <a:lstStyle/>
          <a:p>
            <a:pPr algn="ctr"/>
            <a:r>
              <a:rPr lang="hu-HU" dirty="0">
                <a:solidFill>
                  <a:srgbClr val="464637"/>
                </a:solidFill>
              </a:rPr>
              <a:t>9 / </a:t>
            </a:r>
            <a:fld id="{EF882FFC-C72B-49ED-AEB7-24084B4B619A}" type="slidenum">
              <a:rPr lang="hu-HU" smtClean="0">
                <a:solidFill>
                  <a:srgbClr val="464637"/>
                </a:solidFill>
              </a:rPr>
              <a:pPr algn="ctr"/>
              <a:t>9</a:t>
            </a:fld>
            <a:endParaRPr lang="hu-HU" dirty="0">
              <a:solidFill>
                <a:srgbClr val="464637"/>
              </a:solidFill>
            </a:endParaRPr>
          </a:p>
        </p:txBody>
      </p:sp>
      <p:sp>
        <p:nvSpPr>
          <p:cNvPr id="11" name="!!Cím">
            <a:extLst>
              <a:ext uri="{FF2B5EF4-FFF2-40B4-BE49-F238E27FC236}">
                <a16:creationId xmlns:a16="http://schemas.microsoft.com/office/drawing/2014/main" id="{ED774303-DF90-9AB1-CB9F-B16001DB1CFD}"/>
              </a:ext>
            </a:extLst>
          </p:cNvPr>
          <p:cNvSpPr/>
          <p:nvPr/>
        </p:nvSpPr>
        <p:spPr>
          <a:xfrm>
            <a:off x="395536" y="1734529"/>
            <a:ext cx="8244408" cy="1700808"/>
          </a:xfrm>
          <a:prstGeom prst="rect">
            <a:avLst/>
          </a:prstGeom>
          <a:solidFill>
            <a:srgbClr val="464637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hu-HU" sz="4000" cap="all" dirty="0">
                <a:solidFill>
                  <a:srgbClr val="DCDCCD"/>
                </a:solidFill>
                <a:latin typeface="Book Antiqua" panose="02040602050305030304" pitchFamily="18" charset="0"/>
              </a:rPr>
              <a:t>Köszönjük a figyelmet!</a:t>
            </a:r>
          </a:p>
        </p:txBody>
      </p:sp>
      <p:sp>
        <p:nvSpPr>
          <p:cNvPr id="31" name="!!TL1">
            <a:extLst>
              <a:ext uri="{FF2B5EF4-FFF2-40B4-BE49-F238E27FC236}">
                <a16:creationId xmlns:a16="http://schemas.microsoft.com/office/drawing/2014/main" id="{A8F55322-4878-C8D2-E878-C7D4095C47F0}"/>
              </a:ext>
            </a:extLst>
          </p:cNvPr>
          <p:cNvSpPr/>
          <p:nvPr/>
        </p:nvSpPr>
        <p:spPr>
          <a:xfrm rot="20912274">
            <a:off x="-1673646" y="4373033"/>
            <a:ext cx="2531164" cy="2736574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 w="3175">
            <a:solidFill>
              <a:srgbClr val="DC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2" name="Téglalap: lekerekített 9">
            <a:extLst>
              <a:ext uri="{FF2B5EF4-FFF2-40B4-BE49-F238E27FC236}">
                <a16:creationId xmlns:a16="http://schemas.microsoft.com/office/drawing/2014/main" id="{D2283B3F-8B8F-AB4E-D5F0-C5518C17C37A}"/>
              </a:ext>
            </a:extLst>
          </p:cNvPr>
          <p:cNvSpPr/>
          <p:nvPr/>
        </p:nvSpPr>
        <p:spPr>
          <a:xfrm rot="20912274">
            <a:off x="-1484451" y="4591278"/>
            <a:ext cx="2060713" cy="1846054"/>
          </a:xfrm>
          <a:prstGeom prst="roundRect">
            <a:avLst>
              <a:gd name="adj" fmla="val 1064"/>
            </a:avLst>
          </a:prstGeom>
          <a:solidFill>
            <a:schemeClr val="tx1"/>
          </a:solidFill>
          <a:ln w="3175">
            <a:solidFill>
              <a:srgbClr val="DC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9" name="!!TL3">
            <a:extLst>
              <a:ext uri="{FF2B5EF4-FFF2-40B4-BE49-F238E27FC236}">
                <a16:creationId xmlns:a16="http://schemas.microsoft.com/office/drawing/2014/main" id="{EF786085-D4E3-225C-95EA-FFA87315C622}"/>
              </a:ext>
            </a:extLst>
          </p:cNvPr>
          <p:cNvSpPr/>
          <p:nvPr/>
        </p:nvSpPr>
        <p:spPr>
          <a:xfrm rot="1458381">
            <a:off x="-119288" y="4454023"/>
            <a:ext cx="2531164" cy="2736574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 w="3175">
            <a:solidFill>
              <a:srgbClr val="DC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" name="Téglalap: lekerekített 13">
            <a:extLst>
              <a:ext uri="{FF2B5EF4-FFF2-40B4-BE49-F238E27FC236}">
                <a16:creationId xmlns:a16="http://schemas.microsoft.com/office/drawing/2014/main" id="{751824C1-233B-2485-15BB-6639A8894D1F}"/>
              </a:ext>
            </a:extLst>
          </p:cNvPr>
          <p:cNvSpPr/>
          <p:nvPr/>
        </p:nvSpPr>
        <p:spPr>
          <a:xfrm rot="1458381">
            <a:off x="211282" y="4688180"/>
            <a:ext cx="2060713" cy="1846054"/>
          </a:xfrm>
          <a:prstGeom prst="roundRect">
            <a:avLst>
              <a:gd name="adj" fmla="val 1064"/>
            </a:avLst>
          </a:prstGeom>
          <a:solidFill>
            <a:schemeClr val="tx1"/>
          </a:solidFill>
          <a:ln w="3175">
            <a:solidFill>
              <a:srgbClr val="DC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7" name="!!TL2">
            <a:extLst>
              <a:ext uri="{FF2B5EF4-FFF2-40B4-BE49-F238E27FC236}">
                <a16:creationId xmlns:a16="http://schemas.microsoft.com/office/drawing/2014/main" id="{B50430E2-3095-B4A2-FE8B-8F49450F4518}"/>
              </a:ext>
            </a:extLst>
          </p:cNvPr>
          <p:cNvSpPr/>
          <p:nvPr/>
        </p:nvSpPr>
        <p:spPr>
          <a:xfrm rot="2816792">
            <a:off x="752330" y="5359660"/>
            <a:ext cx="2531164" cy="2736574"/>
          </a:xfrm>
          <a:prstGeom prst="roundRect">
            <a:avLst>
              <a:gd name="adj" fmla="val 1484"/>
            </a:avLst>
          </a:prstGeom>
          <a:solidFill>
            <a:schemeClr val="bg1"/>
          </a:solidFill>
          <a:ln w="3175">
            <a:solidFill>
              <a:srgbClr val="DC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8" name="Téglalap: lekerekített 16">
            <a:extLst>
              <a:ext uri="{FF2B5EF4-FFF2-40B4-BE49-F238E27FC236}">
                <a16:creationId xmlns:a16="http://schemas.microsoft.com/office/drawing/2014/main" id="{2C6FFC5E-7262-161C-83E3-69303497FCB2}"/>
              </a:ext>
            </a:extLst>
          </p:cNvPr>
          <p:cNvSpPr/>
          <p:nvPr/>
        </p:nvSpPr>
        <p:spPr>
          <a:xfrm rot="2816792">
            <a:off x="1205676" y="5726957"/>
            <a:ext cx="2060713" cy="1846054"/>
          </a:xfrm>
          <a:prstGeom prst="roundRect">
            <a:avLst>
              <a:gd name="adj" fmla="val 1064"/>
            </a:avLst>
          </a:prstGeom>
          <a:solidFill>
            <a:schemeClr val="tx1"/>
          </a:solidFill>
          <a:ln w="3175">
            <a:solidFill>
              <a:srgbClr val="DC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1026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0" grpId="0" animBg="1"/>
      <p:bldP spid="28" grpId="0" animBg="1"/>
    </p:bldLst>
  </p:timing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469</TotalTime>
  <Words>221</Words>
  <Application>Microsoft Office PowerPoint</Application>
  <PresentationFormat>On-screen Show (4:3)</PresentationFormat>
  <Paragraphs>102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 Antiqua</vt:lpstr>
      <vt:lpstr>Calibri</vt:lpstr>
      <vt:lpstr>Office-téma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.</dc:creator>
  <cp:lastModifiedBy>. .</cp:lastModifiedBy>
  <cp:revision>220</cp:revision>
  <dcterms:created xsi:type="dcterms:W3CDTF">2026-05-01T11:38:23Z</dcterms:created>
  <dcterms:modified xsi:type="dcterms:W3CDTF">2026-05-02T16:54:37Z</dcterms:modified>
</cp:coreProperties>
</file>